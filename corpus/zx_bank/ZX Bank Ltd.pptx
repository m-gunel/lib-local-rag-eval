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Штаб-квартира:</a:t>
            </a:r>
            <a:r>
              <a:rPr/>
              <a:t> Мумбаи, Махараштра, Индия</a:t>
            </a:r>
            <a:br/>
            <a:r>
              <a:rPr b="1"/>
              <a:t>Год основания:</a:t>
            </a:r>
            <a:r>
              <a:rPr/>
              <a:t> 1998</a:t>
            </a:r>
            <a:br/>
            <a:r>
              <a:rPr b="1"/>
              <a:t>Тип банка:</a:t>
            </a:r>
            <a:r>
              <a:rPr/>
              <a:t> частный сектор, коммерческая банковская деятельность</a:t>
            </a:r>
            <a:br/>
            <a:r>
              <a:rPr b="1"/>
              <a:t>SWIFT-код:</a:t>
            </a:r>
            <a:r>
              <a:rPr/>
              <a:t> ZXININBB</a:t>
            </a:r>
            <a:br/>
            <a:r>
              <a:rPr b="1"/>
              <a:t>Пример кода IFSC:</a:t>
            </a:r>
            <a:r>
              <a:rPr/>
              <a:t> ZXIN0000123</a:t>
            </a:r>
            <a:br/>
            <a:r>
              <a:rPr b="1"/>
              <a:t>Сайт:</a:t>
            </a:r>
            <a:r>
              <a:rPr/>
              <a:t> </a:t>
            </a:r>
            <a:r>
              <a:rPr>
                <a:hlinkClick r:id="rId2"/>
              </a:rPr>
              <a:t>www.zxbank.asia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Страны присутствия</a:t>
            </a:r>
          </a:p>
          <a:p>
            <a:pPr lvl="0"/>
            <a:r>
              <a:rPr b="1"/>
              <a:t>Индия</a:t>
            </a:r>
          </a:p>
          <a:p>
            <a:pPr lvl="1"/>
            <a:r>
              <a:rPr/>
              <a:t>Полный спектр услуг: розничный бизнес, корпоративный бизнес и цифровой банкинг.</a:t>
            </a:r>
          </a:p>
          <a:p>
            <a:pPr lvl="0"/>
            <a:r>
              <a:rPr b="1"/>
              <a:t>Шри-Ланка</a:t>
            </a:r>
          </a:p>
          <a:p>
            <a:pPr lvl="1"/>
            <a:r>
              <a:rPr/>
              <a:t>25+ отделений, ориентированных на МСП, обслуживание частных клиентов и коридоры денежных переводов.</a:t>
            </a:r>
          </a:p>
          <a:p>
            <a:pPr lvl="0"/>
            <a:r>
              <a:rPr b="1"/>
              <a:t>Бангладеш</a:t>
            </a:r>
          </a:p>
          <a:p>
            <a:pPr lvl="1"/>
            <a:r>
              <a:rPr/>
              <a:t>Региональный партнёр в сфере услуг мобильного банка и микрофинансирования.</a:t>
            </a:r>
          </a:p>
          <a:p>
            <a:pPr lvl="0"/>
            <a:r>
              <a:rPr b="1"/>
              <a:t>Бутан</a:t>
            </a:r>
          </a:p>
          <a:p>
            <a:pPr lvl="1"/>
            <a:r>
              <a:rPr/>
              <a:t>Трансграничные банковские услуги, дистанционное открытие счёта и поддержка нерезидентов (NRI).</a:t>
            </a:r>
          </a:p>
          <a:p>
            <a:pPr lvl="0"/>
            <a:r>
              <a:rPr b="1"/>
              <a:t>Непал</a:t>
            </a:r>
          </a:p>
          <a:p>
            <a:pPr lvl="1"/>
            <a:r>
              <a:rPr/>
              <a:t>Стратегическое присутствие через цифровые киоски и услуги денежных переводов.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Услуги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Розничный бизнес</a:t>
            </a:r>
          </a:p>
          <a:p>
            <a:pPr lvl="0"/>
            <a:r>
              <a:rPr/>
              <a:t>Сберегательные и расчётные счета</a:t>
            </a:r>
          </a:p>
          <a:p>
            <a:pPr lvl="0"/>
            <a:r>
              <a:rPr/>
              <a:t>Потребительские и ипотечные кредиты</a:t>
            </a:r>
          </a:p>
          <a:p>
            <a:pPr lvl="0"/>
            <a:r>
              <a:rPr/>
              <a:t>Кредитные карты</a:t>
            </a:r>
          </a:p>
          <a:p>
            <a:pPr lvl="0"/>
            <a:r>
              <a:rPr/>
              <a:t>Срочные вклады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Корпоративный бизнес</a:t>
            </a:r>
          </a:p>
          <a:p>
            <a:pPr lvl="0"/>
            <a:r>
              <a:rPr/>
              <a:t>Кредиты для бизнеса</a:t>
            </a:r>
          </a:p>
          <a:p>
            <a:pPr lvl="0"/>
            <a:r>
              <a:rPr/>
              <a:t>Торговое финансирование</a:t>
            </a:r>
          </a:p>
          <a:p>
            <a:pPr lvl="0"/>
            <a:r>
              <a:rPr/>
              <a:t>Казначейские услуги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Цифровой банкинг</a:t>
            </a:r>
          </a:p>
          <a:p>
            <a:pPr lvl="0"/>
            <a:r>
              <a:rPr/>
              <a:t>Мобильное приложение (Android и iOS)</a:t>
            </a:r>
          </a:p>
          <a:p>
            <a:pPr lvl="0"/>
            <a:r>
              <a:rPr/>
              <a:t>Интернет-банк и UPI</a:t>
            </a:r>
          </a:p>
          <a:p>
            <a:pPr lvl="0"/>
            <a:r>
              <a:rPr/>
              <a:t>e-KYC</a:t>
            </a:r>
          </a:p>
          <a:p>
            <a:pPr lvl="0"/>
            <a:r>
              <a:rPr/>
              <a:t>Чат-бот на базе ИИ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Денежные переводы</a:t>
            </a:r>
          </a:p>
          <a:p>
            <a:pPr lvl="0"/>
            <a:r>
              <a:rPr/>
              <a:t>Быстрые трансграничные платежи (Индия, Шри-Ланка, Непал, Бутан)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Управление капиталом</a:t>
            </a:r>
          </a:p>
          <a:p>
            <a:pPr lvl="0"/>
            <a:r>
              <a:rPr/>
              <a:t>Инвестиционное консультирование</a:t>
            </a:r>
          </a:p>
          <a:p>
            <a:pPr lvl="0"/>
            <a:r>
              <a:rPr/>
              <a:t>Паевые инвестиционные фонды</a:t>
            </a:r>
          </a:p>
          <a:p>
            <a:pPr lvl="0"/>
            <a:r>
              <a:rPr/>
              <a:t>Услуги для нерезидентов (NRI)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Сеть отделений и банкоматов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Страна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Банкоматы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Индия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1,200+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Шри-Ланка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Бангладеш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Бутан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Непал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Ключевые руководители</a:t>
            </a:r>
          </a:p>
          <a:p>
            <a:pPr lvl="0"/>
            <a:r>
              <a:rPr b="1"/>
              <a:t>Генеральный директор (CEO):</a:t>
            </a:r>
            <a:r>
              <a:rPr/>
              <a:t> Анджали Дешмукх</a:t>
            </a:r>
          </a:p>
          <a:p>
            <a:pPr lvl="0"/>
            <a:r>
              <a:rPr b="1"/>
              <a:t>Финансовый директор (CFO):</a:t>
            </a:r>
            <a:r>
              <a:rPr/>
              <a:t> Раджив Сенанаяке</a:t>
            </a:r>
          </a:p>
          <a:p>
            <a:pPr lvl="0"/>
            <a:r>
              <a:rPr b="1"/>
              <a:t>Технический директор (CTO):</a:t>
            </a:r>
            <a:r>
              <a:rPr/>
              <a:t> Дипендра Кхадка</a:t>
            </a:r>
          </a:p>
          <a:p>
            <a:pPr lvl="0"/>
            <a:r>
              <a:rPr b="1"/>
              <a:t>Региональный директор (Южная Азия):</a:t>
            </a:r>
            <a:r>
              <a:rPr/>
              <a:t> Мира Лиянаге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Мобильное приложение: ZX Bank Asia</a:t>
            </a:r>
          </a:p>
          <a:p>
            <a:pPr lvl="0"/>
            <a:r>
              <a:rPr b="1"/>
              <a:t>Доступно на платформах:</a:t>
            </a:r>
            <a:r>
              <a:rPr/>
              <a:t> Android, iOS</a:t>
            </a:r>
          </a:p>
          <a:p>
            <a:pPr lvl="0"/>
            <a:r>
              <a:rPr b="1"/>
              <a:t>Основные преимущества:</a:t>
            </a:r>
          </a:p>
          <a:p>
            <a:pPr lvl="1"/>
            <a:r>
              <a:rPr/>
              <a:t>Проверка баланса и перевод средств</a:t>
            </a:r>
          </a:p>
          <a:p>
            <a:pPr lvl="1"/>
            <a:r>
              <a:rPr/>
              <a:t>Оплата счетов и отслеживание кредитов</a:t>
            </a:r>
          </a:p>
          <a:p>
            <a:pPr lvl="1"/>
            <a:r>
              <a:rPr/>
              <a:t>Биометрический вход и оплата по QR-коду</a:t>
            </a:r>
          </a:p>
          <a:p>
            <a:pPr lvl="1"/>
            <a:r>
              <a:rPr/>
              <a:t>Финансовый ИИ-ассистент: </a:t>
            </a:r>
            <a:r>
              <a:rPr b="1"/>
              <a:t>Zia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Корпоративная социальная ответственность (CSR) и ESG</a:t>
            </a:r>
          </a:p>
          <a:p>
            <a:pPr lvl="0"/>
            <a:r>
              <a:rPr b="1"/>
              <a:t>Проекты зелёного финансирования</a:t>
            </a:r>
          </a:p>
          <a:p>
            <a:pPr lvl="1"/>
            <a:r>
              <a:rPr/>
              <a:t>Партнёрство с гидроэнергетическими проектами Бутана и солнечными энергопроектами Непала</a:t>
            </a:r>
          </a:p>
          <a:p>
            <a:pPr lvl="0"/>
            <a:r>
              <a:rPr b="1"/>
              <a:t>Кампании по повышению финансовой грамотности</a:t>
            </a:r>
          </a:p>
          <a:p>
            <a:pPr lvl="1"/>
            <a:r>
              <a:rPr/>
              <a:t>Программы на местах в сельских районах Индии и Бангладеш</a:t>
            </a:r>
          </a:p>
          <a:p>
            <a:pPr lvl="0"/>
            <a:r>
              <a:rPr b="1"/>
              <a:t>Кредиты для расширения экономических возможностей женщин</a:t>
            </a:r>
          </a:p>
          <a:p>
            <a:pPr lvl="1"/>
            <a:r>
              <a:rPr/>
              <a:t>Микрокредиты для бизнеса, возглавляемого женщинами, по всей Южной Азии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ZX Bank</a:t>
            </a:r>
            <a:r>
              <a:rPr sz="2000"/>
              <a:t> — формируем банкинг будущего по всей Южной Азии 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2026-09-27T11:00:41Z</dcterms:created>
  <dcterms:modified xsi:type="dcterms:W3CDTF">2026-09-27T11:00:41Z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